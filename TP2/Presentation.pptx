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9"/>
  </p:notesMasterIdLst>
  <p:sldIdLst>
    <p:sldId id="256" r:id="rId5"/>
    <p:sldId id="257" r:id="rId6"/>
    <p:sldId id="258" r:id="rId7"/>
    <p:sldId id="259" r:id="rId8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2BD0475-3D72-4E0F-AD60-1B8A09F9E703}" v="123" dt="2025-11-27T22:29:40.34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-187" y="25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BCD511-309A-4ED7-83FC-E0602236D20E}" type="datetimeFigureOut">
              <a:rPr lang="fr-FR" smtClean="0"/>
              <a:t>28/11/2025</a:t>
            </a:fld>
            <a:endParaRPr lang="fr-F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FBDED1-AB88-47BA-B167-D7ABECD9B7D2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485079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0FFF2-6E5D-023F-78C3-CDA4169A9B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23A127-232B-0F22-08F4-195AD6FCA4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76CDC-D967-3974-C575-B72D98905C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ACCC8-B92B-439E-AC87-9324A9C0E29E}" type="datetime1">
              <a:rPr lang="fr-FR" smtClean="0"/>
              <a:t>28/11/2025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6E167C-73C9-71BD-9128-417CE1D203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1C3CB2-CF26-BF4F-8712-22E856744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1DCF1D-9A40-488C-B90C-EAF07A4B7E1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731771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B4CDEA-972B-9171-BE07-7FAC31A4C6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F28318-883F-B476-54C0-30D777C84D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3C9514-400F-FEF9-B395-3235F24D58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95145-9162-4996-B525-178F3D567937}" type="datetime1">
              <a:rPr lang="fr-FR" smtClean="0"/>
              <a:t>28/11/2025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561132-28F2-9D64-BD3F-8590E1DA49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225C2D-1C8B-D7E6-215E-57B43816E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1DCF1D-9A40-488C-B90C-EAF07A4B7E1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118251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702D4-6A61-C45C-D7FB-F0FBCBBABC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C4CA4E-8C3B-B69C-BE4E-9D445A87FE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FC81A5-048F-0385-0ECB-7E206817D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78EAA5-0C9D-4F20-B0F9-48FF4124D4F4}" type="datetime1">
              <a:rPr lang="fr-FR" smtClean="0"/>
              <a:t>28/11/2025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2F5E52-4AE4-C93D-8459-DB70583831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0655F9-D888-0BD5-0E08-8059128E7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1DCF1D-9A40-488C-B90C-EAF07A4B7E1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843861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0B869-5486-6C0B-588A-6626799E8F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F1304F-35A9-4AC3-B1A3-6AE9CAC2EC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EDB94E-FF34-25AD-4CB0-FD6D214CD5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976EF2-EDC1-7B09-3BD8-33F0DCF713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9334C-DBDF-4CFA-9537-AD89A2856A1A}" type="datetime1">
              <a:rPr lang="fr-FR" smtClean="0"/>
              <a:t>28/11/2025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A244C1-39DA-1F2B-B2DA-1ABB7CF714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961B3C-290F-8275-4FB5-7599D5812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1DCF1D-9A40-488C-B90C-EAF07A4B7E1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727517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77928-427F-5717-195B-E1DC47448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5323B-D57C-E99F-52E0-6910646F86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830755-57B8-E15E-3DB0-99A1CB7A82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21695A6-71B0-939B-2E87-1F0B21DE48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2CDA354-7613-9C74-8C5F-A98F5A223B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0433E57-22B5-73A0-85D9-244D484A9E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F2757-1BAF-4B3A-A679-D43630F6EC52}" type="datetime1">
              <a:rPr lang="fr-FR" smtClean="0"/>
              <a:t>28/11/2025</a:t>
            </a:fld>
            <a:endParaRPr lang="fr-F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4B34C12-F31D-AA97-4860-C57DD55E0E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9EE4FA-9EFB-77C4-0C03-CC3E32D9C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1DCF1D-9A40-488C-B90C-EAF07A4B7E1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129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D81081-D3AB-D8C8-2364-752A7B762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806ED2-9A97-65C6-F969-3588544D0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A7B37-E91B-4431-83BC-59E7AEEED007}" type="datetime1">
              <a:rPr lang="fr-FR" smtClean="0"/>
              <a:t>28/11/2025</a:t>
            </a:fld>
            <a:endParaRPr lang="fr-F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EF76C3-F7A4-0532-D6D0-E19BB4457F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96206F-1992-F275-1717-094E18386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1DCF1D-9A40-488C-B90C-EAF07A4B7E1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945505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5C906D2-8227-94FC-07B7-14D81862D6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CDAACE-DA0F-4B67-B0BF-30C826BA077E}" type="datetime1">
              <a:rPr lang="fr-FR" smtClean="0"/>
              <a:t>28/11/2025</a:t>
            </a:fld>
            <a:endParaRPr lang="fr-F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79C5E53-DFAB-D26B-CD5E-344CF268B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E96F6E-8732-D6A9-1288-679CA7EB7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1DCF1D-9A40-488C-B90C-EAF07A4B7E1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735732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71B7B9-BA82-25C7-AE59-9C24050B95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527CB4-3297-E744-50A1-BFEAF5BC6D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06A6C5-68B5-6C1A-DAA3-082D4B6EF2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3560D3-DE26-3BE1-1753-83C9F6D4B4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92908-D91E-4022-A739-FD26270FDF76}" type="datetime1">
              <a:rPr lang="fr-FR" smtClean="0"/>
              <a:t>28/11/2025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C5A207-474D-7F7F-463C-188903A253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66C576-79FC-1CB3-656A-D52BFA5DF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1DCF1D-9A40-488C-B90C-EAF07A4B7E1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329555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87CE1-7DE8-1603-0406-6A37B85AB6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A24EA0-F108-B6FD-E793-FFBB32F81B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368579-F3FB-F910-9912-F579335E90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78351E-B74E-E08C-3CF5-1185B65F5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584AC4-72C7-4FE9-8B65-5DD3749AE344}" type="datetime1">
              <a:rPr lang="fr-FR" smtClean="0"/>
              <a:t>28/11/2025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999225-E00C-6A14-5AFD-889AEBE4D0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C9A6B6-E61A-547D-5D96-16D1548F8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1DCF1D-9A40-488C-B90C-EAF07A4B7E1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853386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4E7322-EA55-70E1-B458-A8964358D0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CCC7D9-EBB6-6ECC-54B5-68ED346222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882D33-CBFA-65CB-7A66-2203BCD48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8E8F8-50C5-4ED4-808E-B4CB50938218}" type="datetime1">
              <a:rPr lang="fr-FR" smtClean="0"/>
              <a:t>28/11/2025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8794BD-B373-E88A-B82F-C516D5297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93ACB3-9CDA-6D7B-A1F6-CB26B274F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1DCF1D-9A40-488C-B90C-EAF07A4B7E1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526485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D9876EF-F3DD-F8CC-969B-BE6D7DE86C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6BBFBE-8096-0B72-CAB0-6CA26E9F8C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0D3FA0-E032-4615-1D74-D50DE6BFA7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F5B4F6-D897-45DA-B985-566A88E10BE2}" type="datetime1">
              <a:rPr lang="fr-FR" smtClean="0"/>
              <a:t>28/11/2025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A83307-69D4-A8AE-4318-BD5E0DBF6E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AB0103-1E41-5105-88FD-9306A1075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1DCF1D-9A40-488C-B90C-EAF07A4B7E1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536046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2E39C3B-04A7-F449-9218-ACC97DC29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F04D09-CAA8-F2C0-8CCD-D66F7233DC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35F327-3825-D5DD-F53C-3645C3D450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45FAEB-2B32-4241-9636-EFECAA295F4D}" type="datetime1">
              <a:rPr lang="fr-FR" smtClean="0"/>
              <a:t>28/11/2025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6DDE41-3A98-0E16-12ED-D8B48E960C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935100-3975-B508-D4CD-A7CFAD72BF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1DCF1D-9A40-488C-B90C-EAF07A4B7E1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80590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A9F529C3-C941-49FD-8C67-82F134F64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50000"/>
              <a:lumOff val="5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0586029-32A0-47E5-9AEC-AE3ABA6B9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16E7E76-53D7-D199-81BF-5974BEDD39C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554" t="1" r="22865" b="1954"/>
          <a:stretch>
            <a:fillRect/>
          </a:stretch>
        </p:blipFill>
        <p:spPr>
          <a:xfrm>
            <a:off x="477012" y="2504613"/>
            <a:ext cx="5178882" cy="1846408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C730EAB-A532-4295-A302-FB4B90DB9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79958" y="1143000"/>
            <a:ext cx="0" cy="4572000"/>
          </a:xfrm>
          <a:prstGeom prst="line">
            <a:avLst/>
          </a:prstGeom>
          <a:ln>
            <a:solidFill>
              <a:srgbClr val="4E4E4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E095B1CE-F7F9-44AA-3926-3DBBBE409A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3817" y="2436241"/>
            <a:ext cx="5294715" cy="198551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BFA3386-CF1D-960F-C891-B78AAB619382}"/>
              </a:ext>
            </a:extLst>
          </p:cNvPr>
          <p:cNvSpPr txBox="1"/>
          <p:nvPr/>
        </p:nvSpPr>
        <p:spPr>
          <a:xfrm>
            <a:off x="1054781" y="958334"/>
            <a:ext cx="31911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/>
              <a:t>Le signal 3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234D654-B009-0AC8-330E-32B1DFA58402}"/>
              </a:ext>
            </a:extLst>
          </p:cNvPr>
          <p:cNvSpPr txBox="1"/>
          <p:nvPr/>
        </p:nvSpPr>
        <p:spPr>
          <a:xfrm>
            <a:off x="655480" y="1956181"/>
            <a:ext cx="36477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Dans le domaine temporel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CC2F836-A8B7-88AB-EC36-45B5E9A75F24}"/>
              </a:ext>
            </a:extLst>
          </p:cNvPr>
          <p:cNvSpPr txBox="1"/>
          <p:nvPr/>
        </p:nvSpPr>
        <p:spPr>
          <a:xfrm>
            <a:off x="6392605" y="1956181"/>
            <a:ext cx="39242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Dans le domaine fréquentiel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B0DAEEA-4E10-B77D-9221-9E70347FA12C}"/>
              </a:ext>
            </a:extLst>
          </p:cNvPr>
          <p:cNvSpPr txBox="1">
            <a:spLocks/>
          </p:cNvSpPr>
          <p:nvPr/>
        </p:nvSpPr>
        <p:spPr>
          <a:xfrm>
            <a:off x="-93258" y="6488668"/>
            <a:ext cx="36427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Radu DAVID et Lucas BERRY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AAD440AE-D68A-9BBF-7957-FF25360DD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1DCF1D-9A40-488C-B90C-EAF07A4B7E1A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381904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AB902CB9-C7DC-4673-B7D5-F22DCF0EC5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CD051E-DF0D-508C-4FC3-A82954DC45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5" y="5168184"/>
            <a:ext cx="10515595" cy="947856"/>
          </a:xfrm>
        </p:spPr>
        <p:txBody>
          <a:bodyPr anchor="b">
            <a:normAutofit/>
          </a:bodyPr>
          <a:lstStyle/>
          <a:p>
            <a:pPr algn="ctr"/>
            <a:r>
              <a:rPr lang="fr-FR" sz="4000" dirty="0"/>
              <a:t>Comparaison de spectres pour chaque voyelle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6B76F0A-077B-57E8-0D29-54474AAD38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949" y="1633902"/>
            <a:ext cx="5350900" cy="16454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9A5B289-C364-253C-0965-3645FB7122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5462" y="178364"/>
            <a:ext cx="5038047" cy="149881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2CAB356-B2B4-2556-AB7A-2692274F7A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5462" y="1674608"/>
            <a:ext cx="5115369" cy="150903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AB2370B-3A58-1276-4899-4A16983E35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1171" y="3341725"/>
            <a:ext cx="5115369" cy="150903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B99A7E1-BB89-8F58-23BE-A7DEB1E5F83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1171" y="178364"/>
            <a:ext cx="5115369" cy="149624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D73B669-D850-DFF7-6012-406C56CA5CE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65462" y="3408368"/>
            <a:ext cx="5197811" cy="1442391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1FB5BD3A-FF55-D140-9D9B-7E07BDB2C06A}"/>
              </a:ext>
            </a:extLst>
          </p:cNvPr>
          <p:cNvSpPr txBox="1">
            <a:spLocks/>
          </p:cNvSpPr>
          <p:nvPr/>
        </p:nvSpPr>
        <p:spPr>
          <a:xfrm>
            <a:off x="-93258" y="6488668"/>
            <a:ext cx="36427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Radu DAVID et Lucas BERRY</a:t>
            </a: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F032EC35-7944-F9CF-7EDC-581F9B1C4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1DCF1D-9A40-488C-B90C-EAF07A4B7E1A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292588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B103AF-C62B-352D-19A6-795661FCFB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stratégie de classification mise en œuvre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B15C3B-70B1-B501-2636-7B110FA8C2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dirty="0"/>
              <a:t>Méthode de la distance euclidienne entre deux vecteurs.</a:t>
            </a:r>
          </a:p>
          <a:p>
            <a:r>
              <a:rPr lang="fr-FR" dirty="0"/>
              <a:t>On utilise la distance en terme d’amplitude</a:t>
            </a:r>
          </a:p>
          <a:p>
            <a:endParaRPr lang="fr-FR" dirty="0"/>
          </a:p>
          <a:p>
            <a:endParaRPr lang="fr-F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F86BD7-EF47-8695-BAE9-F7A08812CF00}"/>
              </a:ext>
            </a:extLst>
          </p:cNvPr>
          <p:cNvSpPr txBox="1">
            <a:spLocks/>
          </p:cNvSpPr>
          <p:nvPr/>
        </p:nvSpPr>
        <p:spPr>
          <a:xfrm>
            <a:off x="-93258" y="6488668"/>
            <a:ext cx="36427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Radu DAVID et Lucas BERRY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B43960-E3B5-E4B6-0CF8-2F1CA7BED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1DCF1D-9A40-488C-B90C-EAF07A4B7E1A}" type="slidenum">
              <a:rPr lang="fr-FR" smtClean="0"/>
              <a:t>3</a:t>
            </a:fld>
            <a:endParaRPr lang="fr-FR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F9D5862-E268-FE3F-3E8E-9EB9845B99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9150747"/>
              </p:ext>
            </p:extLst>
          </p:nvPr>
        </p:nvGraphicFramePr>
        <p:xfrm>
          <a:off x="6024340" y="2873292"/>
          <a:ext cx="5172520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8520">
                  <a:extLst>
                    <a:ext uri="{9D8B030D-6E8A-4147-A177-3AD203B41FA5}">
                      <a16:colId xmlns:a16="http://schemas.microsoft.com/office/drawing/2014/main" val="1352969540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953887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Fondamentale, harmoniques en Hz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86061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Voyelle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112, 226, 341, 452, 564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70016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Voyelle 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120, 239, 359, 479, 600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41186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Voyelle 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137, 273, 410, 546, 682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62923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Voyelle 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124, 248, 372, 496, 619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18780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Voyelle 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141, 282, 422, 563, 704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82039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Signal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125, 252, 377, 507, 630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4722117"/>
                  </a:ext>
                </a:extLst>
              </a:tr>
            </a:tbl>
          </a:graphicData>
        </a:graphic>
      </p:graphicFrame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7127207-B7F5-9BCF-3EC2-2D7C7A5476BC}"/>
              </a:ext>
            </a:extLst>
          </p:cNvPr>
          <p:cNvSpPr txBox="1">
            <a:spLocks/>
          </p:cNvSpPr>
          <p:nvPr/>
        </p:nvSpPr>
        <p:spPr>
          <a:xfrm>
            <a:off x="669605" y="2922104"/>
            <a:ext cx="5197795" cy="341071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2200" dirty="0"/>
              <a:t>On a 2 vecteurs en sortie : harmoniques et leur amplitude</a:t>
            </a:r>
          </a:p>
          <a:p>
            <a:r>
              <a:rPr lang="fr-FR" sz="2200" dirty="0"/>
              <a:t>On utilise la distance euclidienne</a:t>
            </a:r>
          </a:p>
          <a:p>
            <a:r>
              <a:rPr lang="fr-FR" sz="2200" dirty="0"/>
              <a:t>La méthode fonctionne bien pour un nombre d’harmoniques de 15</a:t>
            </a:r>
          </a:p>
          <a:p>
            <a:r>
              <a:rPr lang="fr-FR" sz="2200" dirty="0"/>
              <a:t>Elle fonctionne aussi en amplitude pour un nombre d’harmonique plus bas</a:t>
            </a:r>
          </a:p>
        </p:txBody>
      </p:sp>
    </p:spTree>
    <p:extLst>
      <p:ext uri="{BB962C8B-B14F-4D97-AF65-F5344CB8AC3E}">
        <p14:creationId xmlns:p14="http://schemas.microsoft.com/office/powerpoint/2010/main" val="1646155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057AA1-E0B5-4B46-6978-5BCA34A6D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fr-FR" sz="5400" dirty="0"/>
              <a:t>Conclusion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A41F05-7632-3AF7-A5AA-58B2A6D342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5" y="2807208"/>
            <a:ext cx="5197795" cy="3410712"/>
          </a:xfrm>
        </p:spPr>
        <p:txBody>
          <a:bodyPr anchor="t">
            <a:normAutofit/>
          </a:bodyPr>
          <a:lstStyle/>
          <a:p>
            <a:r>
              <a:rPr lang="fr-FR" sz="2200" dirty="0"/>
              <a:t>Signal 3 : voyelle identifiée : i</a:t>
            </a:r>
          </a:p>
          <a:p>
            <a:r>
              <a:rPr lang="fr-FR" sz="2200"/>
              <a:t>Tracé </a:t>
            </a:r>
            <a:r>
              <a:rPr lang="fr-FR" sz="2200" dirty="0"/>
              <a:t>des amplitudes en fonction de la fréquence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8F550B5-CBBF-4AAC-30FE-9CEB8D2106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4038" y="555019"/>
            <a:ext cx="4389639" cy="331417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81875FF-ED2A-8B61-690B-08168E617CBC}"/>
              </a:ext>
            </a:extLst>
          </p:cNvPr>
          <p:cNvSpPr txBox="1"/>
          <p:nvPr/>
        </p:nvSpPr>
        <p:spPr>
          <a:xfrm>
            <a:off x="11236693" y="1076445"/>
            <a:ext cx="1910614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solidFill>
                  <a:srgbClr val="00B0F0"/>
                </a:solidFill>
              </a:rPr>
              <a:t>A</a:t>
            </a:r>
          </a:p>
          <a:p>
            <a:r>
              <a:rPr lang="fr-FR" sz="2000" dirty="0">
                <a:solidFill>
                  <a:srgbClr val="FFC000"/>
                </a:solidFill>
              </a:rPr>
              <a:t>E</a:t>
            </a:r>
          </a:p>
          <a:p>
            <a:r>
              <a:rPr lang="fr-FR" sz="2000" dirty="0">
                <a:solidFill>
                  <a:srgbClr val="00B050"/>
                </a:solidFill>
              </a:rPr>
              <a:t>I</a:t>
            </a:r>
          </a:p>
          <a:p>
            <a:r>
              <a:rPr lang="fr-FR" sz="2000" dirty="0">
                <a:solidFill>
                  <a:schemeClr val="accent5">
                    <a:lumMod val="75000"/>
                  </a:schemeClr>
                </a:solidFill>
              </a:rPr>
              <a:t>O</a:t>
            </a:r>
          </a:p>
          <a:p>
            <a:r>
              <a:rPr lang="fr-FR" sz="2000" dirty="0">
                <a:solidFill>
                  <a:schemeClr val="accent2">
                    <a:lumMod val="50000"/>
                  </a:schemeClr>
                </a:solidFill>
              </a:rPr>
              <a:t>U</a:t>
            </a:r>
          </a:p>
          <a:p>
            <a:endParaRPr lang="fr-FR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979BE25-6353-BECD-2C25-DD99A0C8E16A}"/>
              </a:ext>
            </a:extLst>
          </p:cNvPr>
          <p:cNvSpPr txBox="1">
            <a:spLocks/>
          </p:cNvSpPr>
          <p:nvPr/>
        </p:nvSpPr>
        <p:spPr>
          <a:xfrm>
            <a:off x="-93258" y="6488668"/>
            <a:ext cx="36427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Radu DAVID et Lucas BERRY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44B76AC4-395C-4BBB-4454-295E01C65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1DCF1D-9A40-488C-B90C-EAF07A4B7E1A}" type="slidenum">
              <a:rPr lang="fr-FR" smtClean="0"/>
              <a:t>4</a:t>
            </a:fld>
            <a:endParaRPr lang="fr-FR"/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7C904D21-6911-BD54-EBCA-C8C3F84D81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8859411"/>
              </p:ext>
            </p:extLst>
          </p:nvPr>
        </p:nvGraphicFramePr>
        <p:xfrm>
          <a:off x="6784038" y="4189497"/>
          <a:ext cx="4201159" cy="22705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7101">
                  <a:extLst>
                    <a:ext uri="{9D8B030D-6E8A-4147-A177-3AD203B41FA5}">
                      <a16:colId xmlns:a16="http://schemas.microsoft.com/office/drawing/2014/main" val="960995336"/>
                    </a:ext>
                  </a:extLst>
                </a:gridCol>
                <a:gridCol w="2734058">
                  <a:extLst>
                    <a:ext uri="{9D8B030D-6E8A-4147-A177-3AD203B41FA5}">
                      <a16:colId xmlns:a16="http://schemas.microsoft.com/office/drawing/2014/main" val="35278696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En Amplitude (x100)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53800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Distance à 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7483277"/>
                  </a:ext>
                </a:extLst>
              </a:tr>
              <a:tr h="41632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/>
                        <a:t>Distance à 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32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76727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/>
                        <a:t>Distance à 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93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82134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/>
                        <a:t>Distance à 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97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39992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/>
                        <a:t>Distance à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40658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115688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826F6B07F60C64588DBFC25F166D7C2" ma:contentTypeVersion="1" ma:contentTypeDescription="Create a new document." ma:contentTypeScope="" ma:versionID="d0d5cd29cf4ab4363fad5d97938eca3c">
  <xsd:schema xmlns:xsd="http://www.w3.org/2001/XMLSchema" xmlns:xs="http://www.w3.org/2001/XMLSchema" xmlns:p="http://schemas.microsoft.com/office/2006/metadata/properties" xmlns:ns3="980bae0b-9106-43c5-9c6c-259e22388d5c" targetNamespace="http://schemas.microsoft.com/office/2006/metadata/properties" ma:root="true" ma:fieldsID="c2d62f8d8364c64c5e9e4bb7d7171dac" ns3:_="">
    <xsd:import namespace="980bae0b-9106-43c5-9c6c-259e22388d5c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80bae0b-9106-43c5-9c6c-259e22388d5c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EA0809C-CEE3-4FA2-A083-DD749B89CFC4}">
  <ds:schemaRefs>
    <ds:schemaRef ds:uri="http://schemas.microsoft.com/office/2006/documentManagement/types"/>
    <ds:schemaRef ds:uri="http://www.w3.org/XML/1998/namespace"/>
    <ds:schemaRef ds:uri="http://schemas.microsoft.com/office/2006/metadata/properties"/>
    <ds:schemaRef ds:uri="http://purl.org/dc/dcmitype/"/>
    <ds:schemaRef ds:uri="http://purl.org/dc/terms/"/>
    <ds:schemaRef ds:uri="980bae0b-9106-43c5-9c6c-259e22388d5c"/>
    <ds:schemaRef ds:uri="http://schemas.microsoft.com/office/infopath/2007/PartnerControls"/>
    <ds:schemaRef ds:uri="http://schemas.openxmlformats.org/package/2006/metadata/core-properties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06897940-C033-4E58-A96E-FDD2A4030BD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FD92DF6-C1D6-4F52-B3DD-AA8C46B8C92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80bae0b-9106-43c5-9c6c-259e22388d5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761</TotalTime>
  <Words>217</Words>
  <Application>Microsoft Office PowerPoint</Application>
  <PresentationFormat>Widescreen</PresentationFormat>
  <Paragraphs>51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Comparaison de spectres pour chaque voyelle</vt:lpstr>
      <vt:lpstr>stratégie de classification mise en œuvre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Lucas BERRY</dc:creator>
  <cp:lastModifiedBy>Lucas BERRY</cp:lastModifiedBy>
  <cp:revision>5</cp:revision>
  <dcterms:created xsi:type="dcterms:W3CDTF">2025-11-27T12:14:58Z</dcterms:created>
  <dcterms:modified xsi:type="dcterms:W3CDTF">2025-11-28T13:10:41Z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0x0101000826F6B07F60C64588DBFC25F166D7C2</vt:lpwstr>
  </property>
</Properties>
</file>